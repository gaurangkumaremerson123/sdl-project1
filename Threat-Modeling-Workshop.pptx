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Conducting a Threat Modeling Workshop</a:t>
            </a:r>
          </a:p>
          <a:p>
            <a:pPr algn="ctr">
              <a:defRPr sz="2400">
                <a:solidFill>
                  <a:srgbClr val="AED6F1"/>
                </a:solidFill>
              </a:defRPr>
            </a:pPr>
            <a:r>
              <a:t>A High-Level Process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85C1E9"/>
                </a:solidFill>
              </a:defRPr>
            </a:pPr>
            <a:r>
              <a:t>Draft for review — adapt to your organization's security review process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is Threat Modeling?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A structured exercise to identify, analyze, and prioritize security threats to a system before they are exploited.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Answers four key questions (Shostack's framework):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D6D7E"/>
                </a:solidFill>
              </a:defRPr>
            </a:pPr>
            <a:r>
              <a:t>What are we building?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D6D7E"/>
                </a:solidFill>
              </a:defRPr>
            </a:pPr>
            <a:r>
              <a:t>What can go wrong?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D6D7E"/>
                </a:solidFill>
              </a:defRPr>
            </a:pPr>
            <a:r>
              <a:t>What are we going to do about it?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D6D7E"/>
                </a:solidFill>
              </a:defRPr>
            </a:pPr>
            <a:r>
              <a:t>Did we do a good job?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Why run it as a workshop?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D6D7E"/>
                </a:solidFill>
              </a:defRPr>
            </a:pPr>
            <a:r>
              <a:t>Brings cross-functional perspectives together (dev, ops, security, product)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D6D7E"/>
                </a:solidFill>
              </a:defRPr>
            </a:pPr>
            <a:r>
              <a:t>Builds shared understanding and security ownership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D6D7E"/>
                </a:solidFill>
              </a:defRPr>
            </a:pPr>
            <a:r>
              <a:t>Cheaper to fix design flaws early than in production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The Workshop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03707" y="2743200"/>
            <a:ext cx="1783080" cy="1371600"/>
          </a:xfrm>
          <a:prstGeom prst="rect">
            <a:avLst/>
          </a:prstGeom>
          <a:solidFill>
            <a:srgbClr val="2183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1. Prepare</a:t>
            </a:r>
          </a:p>
        </p:txBody>
      </p:sp>
      <p:sp>
        <p:nvSpPr>
          <p:cNvPr id="4" name="Can 3"/>
          <p:cNvSpPr/>
          <p:nvPr/>
        </p:nvSpPr>
        <p:spPr>
          <a:xfrm>
            <a:off x="2168499" y="3291840"/>
            <a:ext cx="182880" cy="274320"/>
          </a:xfrm>
          <a:prstGeom prst="can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23947" y="2743200"/>
            <a:ext cx="1783080" cy="1371600"/>
          </a:xfrm>
          <a:prstGeom prst="rect">
            <a:avLst/>
          </a:prstGeom>
          <a:solidFill>
            <a:srgbClr val="1A527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2. Scope &amp;</a:t>
            </a:r>
            <a:br/>
            <a:r>
              <a:t>Decompose</a:t>
            </a:r>
          </a:p>
        </p:txBody>
      </p:sp>
      <p:sp>
        <p:nvSpPr>
          <p:cNvPr id="6" name="Can 5"/>
          <p:cNvSpPr/>
          <p:nvPr/>
        </p:nvSpPr>
        <p:spPr>
          <a:xfrm>
            <a:off x="4088739" y="3291840"/>
            <a:ext cx="182880" cy="274320"/>
          </a:xfrm>
          <a:prstGeom prst="can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44187" y="2743200"/>
            <a:ext cx="1783080" cy="1371600"/>
          </a:xfrm>
          <a:prstGeom prst="rect">
            <a:avLst/>
          </a:prstGeom>
          <a:solidFill>
            <a:srgbClr val="2183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3. Identify</a:t>
            </a:r>
            <a:br/>
            <a:r>
              <a:t>Threats</a:t>
            </a:r>
          </a:p>
        </p:txBody>
      </p:sp>
      <p:sp>
        <p:nvSpPr>
          <p:cNvPr id="8" name="Can 7"/>
          <p:cNvSpPr/>
          <p:nvPr/>
        </p:nvSpPr>
        <p:spPr>
          <a:xfrm>
            <a:off x="6008979" y="3291840"/>
            <a:ext cx="182880" cy="274320"/>
          </a:xfrm>
          <a:prstGeom prst="can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64427" y="2743200"/>
            <a:ext cx="1783080" cy="1371600"/>
          </a:xfrm>
          <a:prstGeom prst="rect">
            <a:avLst/>
          </a:prstGeom>
          <a:solidFill>
            <a:srgbClr val="1A527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4. Assess &amp;</a:t>
            </a:r>
            <a:br/>
            <a:r>
              <a:t>Prioritize</a:t>
            </a:r>
          </a:p>
        </p:txBody>
      </p:sp>
      <p:sp>
        <p:nvSpPr>
          <p:cNvPr id="10" name="Can 9"/>
          <p:cNvSpPr/>
          <p:nvPr/>
        </p:nvSpPr>
        <p:spPr>
          <a:xfrm>
            <a:off x="7929219" y="3291840"/>
            <a:ext cx="182880" cy="274320"/>
          </a:xfrm>
          <a:prstGeom prst="can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84667" y="2743200"/>
            <a:ext cx="1783080" cy="1371600"/>
          </a:xfrm>
          <a:prstGeom prst="rect">
            <a:avLst/>
          </a:prstGeom>
          <a:solidFill>
            <a:srgbClr val="2183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5. Mitigate</a:t>
            </a:r>
          </a:p>
        </p:txBody>
      </p:sp>
      <p:sp>
        <p:nvSpPr>
          <p:cNvPr id="12" name="Can 11"/>
          <p:cNvSpPr/>
          <p:nvPr/>
        </p:nvSpPr>
        <p:spPr>
          <a:xfrm>
            <a:off x="9849459" y="3291840"/>
            <a:ext cx="182880" cy="274320"/>
          </a:xfrm>
          <a:prstGeom prst="can">
            <a:avLst/>
          </a:prstGeom>
          <a:solidFill>
            <a:srgbClr val="5D6D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04907" y="2743200"/>
            <a:ext cx="1783080" cy="1371600"/>
          </a:xfrm>
          <a:prstGeom prst="rect">
            <a:avLst/>
          </a:prstGeom>
          <a:solidFill>
            <a:srgbClr val="1A527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6. Document &amp;</a:t>
            </a:r>
            <a:br/>
            <a:r>
              <a:t>Follow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5D6D7E"/>
                </a:solidFill>
              </a:defRPr>
            </a:pPr>
            <a:r>
              <a:t>An iterative, repeatable cycle — revisit as the system evolves.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Step 1 — Prepare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2286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AED6F1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Define objectives &amp; success criteria for the session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Identify and invite the right participants: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D6D7E"/>
                </a:solidFill>
              </a:defRPr>
            </a:pPr>
            <a:r>
              <a:t>System/product owner, architects, developers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D6D7E"/>
                </a:solidFill>
              </a:defRPr>
            </a:pPr>
            <a:r>
              <a:t>Security engineer / facilitator, operations, QA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Gather inputs ahead of time: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D6D7E"/>
                </a:solidFill>
              </a:defRPr>
            </a:pPr>
            <a:r>
              <a:t>Architecture diagrams, data flow diagrams (DFDs)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D6D7E"/>
                </a:solidFill>
              </a:defRPr>
            </a:pPr>
            <a:r>
              <a:t>Existing docs, prior threat models, compliance requirements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Choose a methodology (STRIDE, PASTA, LINDDUN, attack trees)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Logistics: 2-4 hour timebox, whiteboard/tooling, scribe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Step 2 — Scope &amp; Decompose 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2286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AED6F1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Agree on the scope — what is in and out of bounds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Build / walk through a Data Flow Diagram (DFD):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D6D7E"/>
                </a:solidFill>
              </a:defRPr>
            </a:pPr>
            <a:r>
              <a:t>External entities, processes, data stores, data flows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D6D7E"/>
                </a:solidFill>
              </a:defRPr>
            </a:pPr>
            <a:r>
              <a:t>Identify trust boundaries (where privilege/trust changes)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Enumerate assets and their value (data, functions, reputation)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Capture assumptions and dependencies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Outcome: a shared, validated picture of the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Step 3 — Identify Threats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2286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AED6F1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Systematically brainstorm 'what can go wrong' per element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Apply the chosen framework, e.g. STRIDE: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D6D7E"/>
                </a:solidFill>
              </a:defRPr>
            </a:pPr>
            <a:r>
              <a:t>Spoofing, Tampering, Repudiation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D6D7E"/>
                </a:solidFill>
              </a:defRPr>
            </a:pPr>
            <a:r>
              <a:t>Information disclosure, Denial of service, Elevation of privilege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Walk each data flow and trust boundary crossing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Use prompts: misuse cases, attacker personas, kill chains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Reference MITRE ATT&amp;CK / known weakness catalogs (CWE)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Record every threat without filtering during brainstorm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Step 4 — Assess &amp; Prioritize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2286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AED6F1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Rate each threat by likelihood and impact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D6D7E"/>
                </a:solidFill>
              </a:defRPr>
            </a:pPr>
            <a:r>
              <a:t>Use a consistent scheme (e.g. risk matrix, DREAD, CVSS)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Plot threats to focus effort on the highest risks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Consider existing controls that already reduce risk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Agree on a risk-acceptance threshold with stakeholders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Outcome: a ranked list of threats to address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Step 5 — Define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2286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AED6F1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For each prioritized threat choose a response: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D6D7E"/>
                </a:solidFill>
              </a:defRPr>
            </a:pPr>
            <a:r>
              <a:t>Mitigate (add controls), Eliminate (remove feature)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D6D7E"/>
                </a:solidFill>
              </a:defRPr>
            </a:pPr>
            <a:r>
              <a:t>Transfer (e.g. insurance/3rd party), Accept (document)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Map mitigations to concrete, actionable controls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Assign an owner and target date to each action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Validate that controls are feasible and proportionate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Step 6 — Document, Validate &amp; Follow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2286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400" b="1">
                <a:solidFill>
                  <a:srgbClr val="AED6F1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Produce the threat model report:</a:t>
            </a:r>
          </a:p>
          <a:p>
            <a:pPr lvl="1">
              <a:spcAft>
                <a:spcPts val="600"/>
              </a:spcAft>
              <a:defRPr sz="1600" b="0">
                <a:solidFill>
                  <a:srgbClr val="5D6D7E"/>
                </a:solidFill>
              </a:defRPr>
            </a:pPr>
            <a:r>
              <a:t>Diagrams, threat list, risk ratings, mitigation plan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Feed action items into the backlog / ticketing system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Validate: 'Did we do a good job?' — review coverage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Track mitigations to closure; verify with testing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Treat as living artifact — revisit on major changes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Tips for an Effective 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Keep it collaborative — every voice adds a perspective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Timebox discussions; park deep dives for follow-up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Focus on the system, not blaming people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Start small and iterate — don't try to boil the ocean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Use a neutral facilitator and a dedicated scribe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Make it repeatable: integrate into the SDLC, not a one-off</a:t>
            </a:r>
          </a:p>
          <a:p>
            <a:pPr>
              <a:spcAft>
                <a:spcPts val="600"/>
              </a:spcAft>
              <a:defRPr sz="1800" b="1">
                <a:solidFill>
                  <a:srgbClr val="1A5276"/>
                </a:solidFill>
              </a:defRPr>
            </a:pPr>
            <a:r>
              <a:t>Right-size rigor to the system's risk profile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Key Takeaway</a:t>
            </a:r>
          </a:p>
          <a:p>
            <a:pPr algn="ctr">
              <a:defRPr sz="2200">
                <a:solidFill>
                  <a:srgbClr val="AED6F1"/>
                </a:solidFill>
              </a:defRPr>
            </a:pPr>
            <a:r>
              <a:t>Threat modeling is a structured, collaborative, and iterative process — best done early and repeated often.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